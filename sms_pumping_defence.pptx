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3D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73152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Slide 1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The Challenge – Unexpected Twilio Costs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88952" cy="45720"/>
          </a:xfrm>
          <a:prstGeom prst="rect">
            <a:avLst/>
          </a:prstGeom>
          <a:solidFill>
            <a:srgbClr val="1F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914400"/>
            <a:ext cx="5577840" cy="2560320"/>
          </a:xfrm>
          <a:prstGeom prst="rect">
            <a:avLst/>
          </a:prstGeom>
          <a:solidFill>
            <a:srgbClr val="EBF7EA"/>
          </a:solidFill>
          <a:ln w="19050">
            <a:solidFill>
              <a:srgbClr val="3DA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914400"/>
            <a:ext cx="5577840" cy="475488"/>
          </a:xfrm>
          <a:prstGeom prst="rect">
            <a:avLst/>
          </a:prstGeom>
          <a:solidFill>
            <a:srgbClr val="3D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97840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📌  The 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508760"/>
            <a:ext cx="5248655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We transitioned to Twilio as our communication provider for sending One-Time Passwords (OTPs) via SMS.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914400"/>
            <a:ext cx="5577840" cy="2560320"/>
          </a:xfrm>
          <a:prstGeom prst="rect">
            <a:avLst/>
          </a:prstGeom>
          <a:solidFill>
            <a:srgbClr val="EBF7EA"/>
          </a:solidFill>
          <a:ln w="19050">
            <a:solidFill>
              <a:srgbClr val="3DA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914400"/>
            <a:ext cx="5577840" cy="475488"/>
          </a:xfrm>
          <a:prstGeom prst="rect">
            <a:avLst/>
          </a:prstGeom>
          <a:solidFill>
            <a:srgbClr val="3D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97840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⚠️  The Problem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1508760"/>
            <a:ext cx="5248655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Shortly after this change, we noticed a massive spike in unexplainable SMS costs.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703320"/>
            <a:ext cx="5577840" cy="2560320"/>
          </a:xfrm>
          <a:prstGeom prst="rect">
            <a:avLst/>
          </a:prstGeom>
          <a:solidFill>
            <a:srgbClr val="EBF7EA"/>
          </a:solidFill>
          <a:ln w="19050">
            <a:solidFill>
              <a:srgbClr val="3DA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3703320"/>
            <a:ext cx="5577840" cy="475488"/>
          </a:xfrm>
          <a:prstGeom prst="rect">
            <a:avLst/>
          </a:prstGeom>
          <a:solidFill>
            <a:srgbClr val="3D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376732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🔍  The Root Cause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" y="4297680"/>
            <a:ext cx="5248655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A huge volume of OTPs was triggered for random phone numbers — primarily based in Pakistan.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3703320"/>
            <a:ext cx="5577840" cy="2560320"/>
          </a:xfrm>
          <a:prstGeom prst="rect">
            <a:avLst/>
          </a:prstGeom>
          <a:solidFill>
            <a:srgbClr val="EBF7EA"/>
          </a:solidFill>
          <a:ln w="19050">
            <a:solidFill>
              <a:srgbClr val="3DA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3703320"/>
            <a:ext cx="5577840" cy="475488"/>
          </a:xfrm>
          <a:prstGeom prst="rect">
            <a:avLst/>
          </a:prstGeom>
          <a:solidFill>
            <a:srgbClr val="3D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2512" y="376732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🤖  What This 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4297680"/>
            <a:ext cx="5248655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"SMS Pumping" / "Toll Fraud" — automated bots trigger expensive SMS messages to international numbers to steal a fraction of routing fees.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6565392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</a:rPr>
              <a:t>SMS Pumping Defence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3D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73152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Slide 2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Our Strategy – A Two-Layered Defence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88952" cy="45720"/>
          </a:xfrm>
          <a:prstGeom prst="rect">
            <a:avLst/>
          </a:prstGeom>
          <a:solidFill>
            <a:srgbClr val="1F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66"/>
                </a:solidFill>
              </a:rPr>
              <a:t>To permanently stop SMS Pumping and protect our budget, we implemented a robust, two-layered security checkpoint system on our backend.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F5C9E"/>
                </a:solidFill>
              </a:rPr>
              <a:t>Both layers must be passed before we spend a single cent on an SMS.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5577840" cy="3931920"/>
          </a:xfrm>
          <a:prstGeom prst="rect">
            <a:avLst/>
          </a:prstGeom>
          <a:solidFill>
            <a:srgbClr val="E8F1FB"/>
          </a:solidFill>
          <a:ln w="25400">
            <a:solidFill>
              <a:srgbClr val="1F5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286000"/>
            <a:ext cx="5577840" cy="594360"/>
          </a:xfrm>
          <a:prstGeom prst="rect">
            <a:avLst/>
          </a:prstGeom>
          <a:solidFill>
            <a:srgbClr val="1F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5915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🛡️  Layer 1 — The Identity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17520"/>
            <a:ext cx="5212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Are you our real app?
Component: AppRequestContextFilter (Firebase App Check)
Demands a cryptographic, unforgeable digital token before processing any request.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0" y="2286000"/>
            <a:ext cx="5577840" cy="3931920"/>
          </a:xfrm>
          <a:prstGeom prst="rect">
            <a:avLst/>
          </a:prstGeom>
          <a:solidFill>
            <a:srgbClr val="E8F1FB"/>
          </a:solidFill>
          <a:ln w="25400">
            <a:solidFill>
              <a:srgbClr val="1F5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92240" y="2286000"/>
            <a:ext cx="5577840" cy="594360"/>
          </a:xfrm>
          <a:prstGeom prst="rect">
            <a:avLst/>
          </a:prstGeom>
          <a:solidFill>
            <a:srgbClr val="1F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35915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⏱️  Layer 2 — The Speed Limit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017520"/>
            <a:ext cx="5212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Are you requesting too fast?
Component: SendOtpRateLimitAttribute
Tracks request frequency per user/device and enforces a strict per-minute cap.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6565392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</a:rPr>
              <a:t>SMS Pumping Defence  | 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3D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73152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Slide 3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Defence Layer 1 – The Gatekeeper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88952" cy="45720"/>
          </a:xfrm>
          <a:prstGeom prst="rect">
            <a:avLst/>
          </a:prstGeom>
          <a:solidFill>
            <a:srgbClr val="1F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7772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5C9E"/>
                </a:solidFill>
              </a:rPr>
              <a:t>🔒  AppRequestContextFilter  (Firebase App Check)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63040"/>
            <a:ext cx="3108960" cy="2651760"/>
          </a:xfrm>
          <a:prstGeom prst="rect">
            <a:avLst/>
          </a:prstGeom>
          <a:solidFill>
            <a:srgbClr val="E8F1FB"/>
          </a:solidFill>
          <a:ln w="25400">
            <a:solidFill>
              <a:srgbClr val="1F5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5C9E"/>
                </a:solidFill>
              </a:rPr>
              <a:t>📱  Real 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2834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Silently generates a
cryptographic MobileAppCheck
token in the background.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9039" y="1463040"/>
            <a:ext cx="3108960" cy="2651760"/>
          </a:xfrm>
          <a:prstGeom prst="rect">
            <a:avLst/>
          </a:prstGeom>
          <a:solidFill>
            <a:srgbClr val="E8F1FB"/>
          </a:solidFill>
          <a:ln w="25400">
            <a:solidFill>
              <a:srgbClr val="1F5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86200" y="1554480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5C9E"/>
                </a:solidFill>
              </a:rPr>
              <a:t>🚪  Gatekeeper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2103120"/>
            <a:ext cx="2834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Demands the token before
processing any request.
No token → instant reject.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78040" y="1463040"/>
            <a:ext cx="3108960" cy="2651760"/>
          </a:xfrm>
          <a:prstGeom prst="rect">
            <a:avLst/>
          </a:prstGeom>
          <a:solidFill>
            <a:srgbClr val="FFEBEB"/>
          </a:solidFill>
          <a:ln w="25400">
            <a:solidFill>
              <a:srgbClr val="CC2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1554480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C2020"/>
                </a:solidFill>
              </a:rPr>
              <a:t>🤖  Bot / Script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103120"/>
            <a:ext cx="2834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Cannot generate a valid token.
No real device. No real app.
Instantly blocked at the door.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2514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3DAA35"/>
                </a:solidFill>
              </a:rPr>
              <a:t>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514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3DAA35"/>
                </a:solidFill>
              </a:rPr>
              <a:t>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389120"/>
            <a:ext cx="11521440" cy="685800"/>
          </a:xfrm>
          <a:prstGeom prst="rect">
            <a:avLst/>
          </a:prstGeom>
          <a:solidFill>
            <a:srgbClr val="3DAA35"/>
          </a:solidFill>
          <a:ln>
            <a:solidFill>
              <a:srgbClr val="3DA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45312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✅  Result: Bots are rejected instantly — Cost to us: $0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2578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400">
                <a:solidFill>
                  <a:srgbClr val="1A1A2E"/>
                </a:solidFill>
              </a:rPr>
              <a:t>▸  Bot farms lack a real device running our genuine application.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1A1A2E"/>
                </a:solidFill>
              </a:rPr>
              <a:t>▸  Automated scripts cannot replicate the cryptographic token generation.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1A1A2E"/>
                </a:solidFill>
              </a:rPr>
              <a:t>▸  Rejection happens before any SMS is queued — zero Twilio spend.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6565392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</a:rPr>
              <a:t>SMS Pumping Defence  | 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3D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73152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Slide 4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Defence Layer 2 – The Speed Limit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88952" cy="45720"/>
          </a:xfrm>
          <a:prstGeom prst="rect">
            <a:avLst/>
          </a:prstGeom>
          <a:solidFill>
            <a:srgbClr val="1F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7772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5C9E"/>
                </a:solidFill>
              </a:rPr>
              <a:t>⏱️  SendOtpRateLimitAttribute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63040"/>
            <a:ext cx="3749039" cy="3474720"/>
          </a:xfrm>
          <a:prstGeom prst="rect">
            <a:avLst/>
          </a:prstGeom>
          <a:solidFill>
            <a:srgbClr val="EBF7EA"/>
          </a:solidFill>
          <a:ln w="19050">
            <a:solidFill>
              <a:srgbClr val="3DA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63040"/>
            <a:ext cx="3749039" cy="566928"/>
          </a:xfrm>
          <a:prstGeom prst="rect">
            <a:avLst/>
          </a:prstGeom>
          <a:solidFill>
            <a:srgbClr val="3D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2704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❓  Why We Need This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121408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What if an attacker hijacks a real phone, or a legitimate user taps 'Send OTP' 50 times in a row?
Layer 1 would let them through — but it would still cost us money.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79" y="1463040"/>
            <a:ext cx="3749039" cy="3474720"/>
          </a:xfrm>
          <a:prstGeom prst="rect">
            <a:avLst/>
          </a:prstGeom>
          <a:solidFill>
            <a:srgbClr val="EBF7EA"/>
          </a:solidFill>
          <a:ln w="19050">
            <a:solidFill>
              <a:srgbClr val="3DA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79" y="1463040"/>
            <a:ext cx="3749039" cy="566928"/>
          </a:xfrm>
          <a:prstGeom prst="rect">
            <a:avLst/>
          </a:prstGeom>
          <a:solidFill>
            <a:srgbClr val="3D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52704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⚙️  How It Works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121408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Tracks how often a specific user or device requests an OTP.
Applies a strict cap (e.g. max X texts per minute).
Once the cap is hit: 'Please wait' — no further SMS is sent.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75319" y="1463040"/>
            <a:ext cx="3749039" cy="3474720"/>
          </a:xfrm>
          <a:prstGeom prst="rect">
            <a:avLst/>
          </a:prstGeom>
          <a:solidFill>
            <a:srgbClr val="EBF7EA"/>
          </a:solidFill>
          <a:ln w="19050">
            <a:solidFill>
              <a:srgbClr val="3DA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75319" y="1463040"/>
            <a:ext cx="3749039" cy="566928"/>
          </a:xfrm>
          <a:prstGeom prst="rect">
            <a:avLst/>
          </a:prstGeom>
          <a:solidFill>
            <a:srgbClr val="3D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152704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✅  The Result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121408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Residual fraud is caught by this fail-safe layer.
Legitimate users experience a brief cooldown at worst.
Cost savings are locked in — no runaway charges.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166360"/>
            <a:ext cx="11521440" cy="960120"/>
          </a:xfrm>
          <a:prstGeom prst="rect">
            <a:avLst/>
          </a:prstGeom>
          <a:solidFill>
            <a:srgbClr val="E8F1FB"/>
          </a:solidFill>
          <a:ln w="19050">
            <a:solidFill>
              <a:srgbClr val="1F5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519379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5C9E"/>
                </a:solidFill>
              </a:rPr>
              <a:t>🔐  Combined Defence Summary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57784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1A1A2E"/>
                </a:solidFill>
              </a:rPr>
              <a:t>✔  Layer 1 (App Check) blocks ~99 %+ of bot traffic before any cost is incurred.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1A1A2E"/>
                </a:solidFill>
              </a:rPr>
              <a:t>✔  Layer 2 (Rate Limit) eliminates residual abuse and protects against edge cases.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6565392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</a:rPr>
              <a:t>SMS Pumping Defence  | 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3D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73152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Slide 5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Business Value &amp; 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88952" cy="45720"/>
          </a:xfrm>
          <a:prstGeom prst="rect">
            <a:avLst/>
          </a:prstGeom>
          <a:solidFill>
            <a:srgbClr val="1F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05840"/>
            <a:ext cx="3749039" cy="5212080"/>
          </a:xfrm>
          <a:prstGeom prst="rect">
            <a:avLst/>
          </a:prstGeom>
          <a:solidFill>
            <a:srgbClr val="EBF7EA"/>
          </a:solidFill>
          <a:ln w="19050">
            <a:solidFill>
              <a:srgbClr val="3DA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005840"/>
            <a:ext cx="3749039" cy="594360"/>
          </a:xfrm>
          <a:prstGeom prst="rect">
            <a:avLst/>
          </a:prstGeom>
          <a:solidFill>
            <a:srgbClr val="3D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" y="1069848"/>
            <a:ext cx="3474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💰  Immediate ROI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" y="1691640"/>
            <a:ext cx="3456432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We have successfully shut off the vulnerability that automated scripts were exploiting, saving the company from runaway Twilio invoices.
The fix costs nothing to run and protects us indefinitely.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79" y="1005840"/>
            <a:ext cx="3749039" cy="5212080"/>
          </a:xfrm>
          <a:prstGeom prst="rect">
            <a:avLst/>
          </a:prstGeom>
          <a:solidFill>
            <a:srgbClr val="EBF7EA"/>
          </a:solidFill>
          <a:ln w="19050">
            <a:solidFill>
              <a:srgbClr val="3DA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79" y="1005840"/>
            <a:ext cx="3749039" cy="594360"/>
          </a:xfrm>
          <a:prstGeom prst="rect">
            <a:avLst/>
          </a:prstGeom>
          <a:solidFill>
            <a:srgbClr val="3D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62271" y="1069848"/>
            <a:ext cx="3474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📈  Predictable Scaling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62271" y="1691640"/>
            <a:ext cx="3456432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As we grow our legitimate user base, our SMS costs will scale directly with real human onboarding — not outside bot traffic.
Budgeting becomes reliable and tied to actual growth.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75319" y="1005840"/>
            <a:ext cx="3749039" cy="5212080"/>
          </a:xfrm>
          <a:prstGeom prst="rect">
            <a:avLst/>
          </a:prstGeom>
          <a:solidFill>
            <a:srgbClr val="EBF7EA"/>
          </a:solidFill>
          <a:ln w="19050">
            <a:solidFill>
              <a:srgbClr val="3DA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75319" y="1005840"/>
            <a:ext cx="3749039" cy="594360"/>
          </a:xfrm>
          <a:prstGeom prst="rect">
            <a:avLst/>
          </a:prstGeom>
          <a:solidFill>
            <a:srgbClr val="3D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9911" y="1069848"/>
            <a:ext cx="3474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✨  Zero User Friction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9911" y="1691640"/>
            <a:ext cx="3456432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Both security measures happen in milliseconds behind the scenes.
Legitimate users attempting to log in normally will not even notice they are there — no extra steps, no delays, no CAPTCHA.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6565392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</a:rPr>
              <a:t>SMS Pumping Defence  | 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3D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73152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Slide 6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How Our Defence Works –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88952" cy="45720"/>
          </a:xfrm>
          <a:prstGeom prst="rect">
            <a:avLst/>
          </a:prstGeom>
          <a:solidFill>
            <a:srgbClr val="1F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55566"/>
                </a:solidFill>
              </a:rPr>
              <a:t>Every SMS request passes through two automatic checkpoints before we are charged a penny.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508760"/>
            <a:ext cx="2331720" cy="1005840"/>
          </a:xfrm>
          <a:prstGeom prst="rect">
            <a:avLst/>
          </a:prstGeom>
          <a:solidFill>
            <a:srgbClr val="E8F1FB"/>
          </a:solidFill>
          <a:ln w="25400">
            <a:solidFill>
              <a:srgbClr val="1F5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" y="1581912"/>
            <a:ext cx="2112263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5C9E"/>
                </a:solidFill>
              </a:rPr>
              <a:t>📲  SMS Request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011680"/>
            <a:ext cx="2148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5566"/>
                </a:solidFill>
              </a:rPr>
              <a:t>User taps 'Send Code'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39" y="180136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3DAA35"/>
                </a:solidFill>
              </a:rPr>
              <a:t>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4640" y="1508760"/>
            <a:ext cx="2331720" cy="1005840"/>
          </a:xfrm>
          <a:prstGeom prst="rect">
            <a:avLst/>
          </a:prstGeom>
          <a:solidFill>
            <a:srgbClr val="1F5C9E"/>
          </a:solidFill>
          <a:ln w="25400">
            <a:solidFill>
              <a:srgbClr val="1F5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44368" y="1581912"/>
            <a:ext cx="2112263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🛡️  Checkpoint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011680"/>
            <a:ext cx="2148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DDFF"/>
                </a:solidFill>
              </a:rPr>
              <a:t>Is this our real app?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80136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3DAA35"/>
                </a:solidFill>
              </a:rPr>
              <a:t>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89320" y="1508760"/>
            <a:ext cx="2331720" cy="1005840"/>
          </a:xfrm>
          <a:prstGeom prst="rect">
            <a:avLst/>
          </a:prstGeom>
          <a:solidFill>
            <a:srgbClr val="1F5C9E"/>
          </a:solidFill>
          <a:ln w="25400">
            <a:solidFill>
              <a:srgbClr val="1F5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9048" y="1581912"/>
            <a:ext cx="2112263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⏱️  Checkpoint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59" y="2011680"/>
            <a:ext cx="2148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DDFF"/>
                </a:solidFill>
              </a:rPr>
              <a:t>Is the request rate normal?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180136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3DAA35"/>
                </a:solidFill>
              </a:rPr>
              <a:t>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0" y="1508760"/>
            <a:ext cx="2331720" cy="1005840"/>
          </a:xfrm>
          <a:prstGeom prst="rect">
            <a:avLst/>
          </a:prstGeom>
          <a:solidFill>
            <a:srgbClr val="3DAA35"/>
          </a:solidFill>
          <a:ln w="25400">
            <a:solidFill>
              <a:srgbClr val="2D8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36607" y="1581912"/>
            <a:ext cx="2112263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✅  SMS Sent!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19" y="2011680"/>
            <a:ext cx="2148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FFCC"/>
                </a:solidFill>
              </a:rPr>
              <a:t>Twilio charged — legitimate user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54780" y="256032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2020"/>
                </a:solidFill>
              </a:rPr>
              <a:t>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9459" y="256032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2020"/>
                </a:solidFill>
              </a:rPr>
              <a:t>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51760" y="3063240"/>
            <a:ext cx="2743200" cy="1417320"/>
          </a:xfrm>
          <a:prstGeom prst="rect">
            <a:avLst/>
          </a:prstGeom>
          <a:solidFill>
            <a:srgbClr val="FFEBEB"/>
          </a:solidFill>
          <a:ln w="25400">
            <a:solidFill>
              <a:srgbClr val="CC2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61488" y="3127248"/>
            <a:ext cx="252374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C2020"/>
                </a:solidFill>
              </a:rPr>
              <a:t>❌  Blocked — FREE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61488" y="3502152"/>
            <a:ext cx="252374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Bot / script without
a valid app token.
Cost to us: $0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06440" y="3063240"/>
            <a:ext cx="2743200" cy="1417320"/>
          </a:xfrm>
          <a:prstGeom prst="rect">
            <a:avLst/>
          </a:prstGeom>
          <a:solidFill>
            <a:srgbClr val="FFF3D4"/>
          </a:solidFill>
          <a:ln w="25400">
            <a:solidFill>
              <a:srgbClr val="B8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16168" y="3127248"/>
            <a:ext cx="252374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86A00"/>
                </a:solidFill>
              </a:rPr>
              <a:t>⚠️  Throttled — FREE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16168" y="3502152"/>
            <a:ext cx="252374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Too many requests too fast.
System says 'Please wait'.
Cost to us: $0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4754880"/>
            <a:ext cx="11521440" cy="1417320"/>
          </a:xfrm>
          <a:prstGeom prst="rect">
            <a:avLst/>
          </a:prstGeom>
          <a:solidFill>
            <a:srgbClr val="EBF7EA"/>
          </a:solidFill>
          <a:ln w="19050">
            <a:solidFill>
              <a:srgbClr val="3DA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48006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8028"/>
                </a:solidFill>
              </a:rPr>
              <a:t>🔑  Key Takeaway for the Business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1663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1A1A2E"/>
                </a:solidFill>
              </a:rPr>
              <a:t>✔  Only real users on our genuine app can ever reach the 'SMS Sent' step — protecting our budget automatically.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1A1A2E"/>
                </a:solidFill>
              </a:rPr>
              <a:t>✔  The system is fully invisible to legitimate customers and requires no manual intervention.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1A1A2E"/>
                </a:solidFill>
              </a:rPr>
              <a:t>✔  Both checkpoints run in under 50 milliseconds — no perceptible delay for users.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" y="6565392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</a:rPr>
              <a:t>SMS Pumping Defence  | 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