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A02DC9-5A96-40E2-AE31-B306253884D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4E6B4-3B36-4BBE-B821-765971ACC7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05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432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543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The Challenge – Unexpected Twilio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5577840" cy="25603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0241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AE2B"/>
                </a:solidFill>
              </a:rPr>
              <a:t>📌  The Situation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5248655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 transitioned to Twilio as our communication provider for sending One-Time Passwords (OTPs) via SMS.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577840" cy="25603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02412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AE2B"/>
                </a:solidFill>
              </a:rPr>
              <a:t>⚠️  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508760"/>
            <a:ext cx="5248655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Shortly after this change, we noticed a massive spike in unexplainable SMS costs.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577840" cy="25603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3813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AE2B"/>
                </a:solidFill>
              </a:rPr>
              <a:t>🔍  The Root Cause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297680"/>
            <a:ext cx="524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A huge volume of OTPs was triggered for random phone numbers </a:t>
            </a:r>
            <a:r>
              <a:rPr lang="en-US" sz="1300" b="0" i="0" dirty="0">
                <a:solidFill>
                  <a:srgbClr val="FFFFFF"/>
                </a:solidFill>
              </a:rPr>
              <a:t>that were</a:t>
            </a:r>
            <a:r>
              <a:rPr sz="1300" b="0" i="0" dirty="0">
                <a:solidFill>
                  <a:srgbClr val="FFFFFF"/>
                </a:solidFill>
              </a:rPr>
              <a:t> primarily based in Pakistan.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03320"/>
            <a:ext cx="5577840" cy="25603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813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AE2B"/>
                </a:solidFill>
              </a:rPr>
              <a:t>🤖  What This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297680"/>
            <a:ext cx="524865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"SMS Pumping"</a:t>
            </a:r>
            <a:r>
              <a:rPr lang="en-US" sz="1300" b="0" i="0" dirty="0">
                <a:solidFill>
                  <a:srgbClr val="FFFFFF"/>
                </a:solidFill>
              </a:rPr>
              <a:t> </a:t>
            </a:r>
            <a:r>
              <a:rPr lang="en-US" sz="1300" dirty="0">
                <a:solidFill>
                  <a:srgbClr val="FFFFFF"/>
                </a:solidFill>
              </a:rPr>
              <a:t>is when</a:t>
            </a:r>
            <a:r>
              <a:rPr sz="1300" b="0" i="0" dirty="0">
                <a:solidFill>
                  <a:srgbClr val="FFFFFF"/>
                </a:solidFill>
              </a:rPr>
              <a:t> automated bots trigger expensive SMS messages to </a:t>
            </a:r>
            <a:r>
              <a:rPr lang="en-US" sz="1300" b="0" i="0" dirty="0">
                <a:solidFill>
                  <a:srgbClr val="FFFFFF"/>
                </a:solidFill>
              </a:rPr>
              <a:t>random</a:t>
            </a:r>
            <a:r>
              <a:rPr sz="1300" b="0" i="0" dirty="0">
                <a:solidFill>
                  <a:srgbClr val="FFFFFF"/>
                </a:solidFill>
              </a:rPr>
              <a:t>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Our Strategy – A Two-Layered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CCCCCC"/>
                </a:solidFill>
              </a:rPr>
              <a:t>To permanently stop SMS Pumping and protect our budget, we implemented a robust, two-layered security checkpoint system on our backend.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3DAE2B"/>
                </a:solidFill>
              </a:rPr>
              <a:t>Both layers must be passed before we spend a single cent on an SMS.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577840" cy="3931920"/>
          </a:xfrm>
          <a:prstGeom prst="rect">
            <a:avLst/>
          </a:prstGeom>
          <a:solidFill>
            <a:srgbClr val="0F3D6E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5577840" cy="594360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🛡️  Layer 1 — The Identity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Are you our real app?
Component: </a:t>
            </a:r>
            <a:r>
              <a:rPr sz="1300" b="0" i="0" dirty="0" err="1">
                <a:solidFill>
                  <a:srgbClr val="FFFFFF"/>
                </a:solidFill>
              </a:rPr>
              <a:t>AppRequestContextFilter</a:t>
            </a:r>
            <a:r>
              <a:rPr sz="1300" b="0" i="0" dirty="0">
                <a:solidFill>
                  <a:srgbClr val="FFFFFF"/>
                </a:solidFill>
              </a:rPr>
              <a:t> (Firebase App Check)
Demands a cryptographic, unforgeable digital token before processing any request.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286000"/>
            <a:ext cx="5577840" cy="3931920"/>
          </a:xfrm>
          <a:prstGeom prst="rect">
            <a:avLst/>
          </a:prstGeom>
          <a:solidFill>
            <a:srgbClr val="0F3D6E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2286000"/>
            <a:ext cx="5577840" cy="594360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35915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⏱️  Layer 2 — The Speed 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Are you requesting too fast?
Component: </a:t>
            </a:r>
            <a:r>
              <a:rPr sz="1300" b="0" i="0" dirty="0" err="1">
                <a:solidFill>
                  <a:srgbClr val="FFFFFF"/>
                </a:solidFill>
              </a:rPr>
              <a:t>SendOtpRateLimitAttribute</a:t>
            </a:r>
            <a:r>
              <a:rPr sz="1300" b="0" i="0" dirty="0">
                <a:solidFill>
                  <a:srgbClr val="FFFFFF"/>
                </a:solidFill>
              </a:rPr>
              <a:t>
Tracks request frequency per user/device and enforces a strict per-minute cap.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5118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Defense Layer 1 – The Gatekeeper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3DAE2B"/>
                </a:solidFill>
              </a:rPr>
              <a:t>🔒  </a:t>
            </a:r>
            <a:r>
              <a:rPr sz="1800" b="1" i="0" dirty="0" err="1">
                <a:solidFill>
                  <a:srgbClr val="3DAE2B"/>
                </a:solidFill>
              </a:rPr>
              <a:t>AppRequestContextFilter</a:t>
            </a:r>
            <a:r>
              <a:rPr sz="1800" b="1" i="0" dirty="0">
                <a:solidFill>
                  <a:srgbClr val="3DAE2B"/>
                </a:solidFill>
              </a:rPr>
              <a:t>  (Firebase App Check)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108960" cy="2651760"/>
          </a:xfrm>
          <a:prstGeom prst="rect">
            <a:avLst/>
          </a:prstGeom>
          <a:solidFill>
            <a:srgbClr val="0F3D6E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📱  Real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Silently generates a
cryptographic </a:t>
            </a:r>
            <a:r>
              <a:rPr sz="1200" b="0" i="0" dirty="0" err="1">
                <a:solidFill>
                  <a:srgbClr val="FFFFFF"/>
                </a:solidFill>
              </a:rPr>
              <a:t>MobileAppCheck</a:t>
            </a:r>
            <a:r>
              <a:rPr sz="1200" b="0" i="0" dirty="0">
                <a:solidFill>
                  <a:srgbClr val="FFFFFF"/>
                </a:solidFill>
              </a:rPr>
              <a:t>
token in the background.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63040"/>
            <a:ext cx="3108960" cy="2651760"/>
          </a:xfrm>
          <a:prstGeom prst="rect">
            <a:avLst/>
          </a:prstGeom>
          <a:solidFill>
            <a:srgbClr val="0F3D6E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554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🚪  Gatekeeper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Demands the token before
processing any request.
No token → instant reject.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463040"/>
            <a:ext cx="3108960" cy="2651760"/>
          </a:xfrm>
          <a:prstGeom prst="rect">
            <a:avLst/>
          </a:prstGeom>
          <a:solidFill>
            <a:srgbClr val="0F3D6E"/>
          </a:solidFill>
          <a:ln w="254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554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AE2B"/>
                </a:solidFill>
              </a:rPr>
              <a:t>🤖  Bot / 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031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Cannot generate a valid token.
No real device. No real app.
Instantly blocked at the door.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DAE2B"/>
                </a:solidFill>
              </a:rPr>
              <a:t>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DAE2B"/>
                </a:solidFill>
              </a:rPr>
              <a:t>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89120"/>
            <a:ext cx="11521440" cy="685800"/>
          </a:xfrm>
          <a:prstGeom prst="rect">
            <a:avLst/>
          </a:prstGeom>
          <a:solidFill>
            <a:srgbClr val="3DAE2B"/>
          </a:solidFill>
          <a:ln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4531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</a:rPr>
              <a:t>✅  Result: Bots are rejected instantly — Cost to us: 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57800"/>
            <a:ext cx="112471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▸  Bot farms lack a real device running our genuine application.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▸  Automated scripts cannot replicate the cryptographic token generation.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FFFFFF"/>
                </a:solidFill>
              </a:rPr>
              <a:t>▸  Rejection happens before any SMS is queued </a:t>
            </a:r>
            <a:r>
              <a:rPr lang="en-US" sz="1400" dirty="0">
                <a:solidFill>
                  <a:srgbClr val="FFFFFF"/>
                </a:solidFill>
              </a:rPr>
              <a:t>(Z</a:t>
            </a:r>
            <a:r>
              <a:rPr sz="1400" dirty="0">
                <a:solidFill>
                  <a:srgbClr val="FFFFFF"/>
                </a:solidFill>
              </a:rPr>
              <a:t>ero Twilio spend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  <a:r>
              <a:rPr sz="140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Defense Layer 2 – The Speed Limit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DAE2B"/>
                </a:solidFill>
              </a:rPr>
              <a:t>⏱️  SendOtpRateLimitAttribute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3749039" cy="34747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3749039" cy="566928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❓  Why We Need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474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What if an attacker hijacks a real phone, or a legitimate user taps 'Send OTP' 50 times in a row?
Layer 1 would let them </a:t>
            </a:r>
            <a:r>
              <a:rPr lang="en-US" sz="1200" b="0" i="0" dirty="0">
                <a:solidFill>
                  <a:srgbClr val="FFFFFF"/>
                </a:solidFill>
              </a:rPr>
              <a:t>through,</a:t>
            </a:r>
            <a:r>
              <a:rPr sz="1200" b="0" i="0" dirty="0">
                <a:solidFill>
                  <a:srgbClr val="FFFFFF"/>
                </a:solidFill>
              </a:rPr>
              <a:t> but it would still cost us money.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1463040"/>
            <a:ext cx="3749039" cy="34747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79" y="1463040"/>
            <a:ext cx="3749039" cy="566928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21408"/>
            <a:ext cx="3474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Tracks how often a specific user or device requests an OTP.
Applies a strict cap (</a:t>
            </a:r>
            <a:r>
              <a:rPr lang="en-US" sz="1200" b="0" i="0" dirty="0">
                <a:solidFill>
                  <a:srgbClr val="FFFFFF"/>
                </a:solidFill>
              </a:rPr>
              <a:t>e.g.,</a:t>
            </a:r>
            <a:r>
              <a:rPr sz="1200" b="0" i="0" dirty="0">
                <a:solidFill>
                  <a:srgbClr val="FFFFFF"/>
                </a:solidFill>
              </a:rPr>
              <a:t> max X texts per minute</a:t>
            </a:r>
            <a:r>
              <a:rPr lang="en-US" sz="1200" b="0" i="0" dirty="0">
                <a:solidFill>
                  <a:srgbClr val="FFFFFF"/>
                </a:solidFill>
              </a:rPr>
              <a:t>, per hour and per day</a:t>
            </a:r>
            <a:r>
              <a:rPr sz="1200" b="0" i="0" dirty="0">
                <a:solidFill>
                  <a:srgbClr val="FFFFFF"/>
                </a:solidFill>
              </a:rPr>
              <a:t>).
Once the cap is </a:t>
            </a:r>
            <a:r>
              <a:rPr lang="en-US" sz="1200" b="0" i="0" dirty="0">
                <a:solidFill>
                  <a:srgbClr val="FFFFFF"/>
                </a:solidFill>
              </a:rPr>
              <a:t>hit the users don’t see any difference and that is because we wanted to prevent the bots to realize they are hitting the rate limits.</a:t>
            </a:r>
            <a:endParaRPr sz="1200" b="0" i="0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75319" y="1463040"/>
            <a:ext cx="3749039" cy="34747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463040"/>
            <a:ext cx="3749039" cy="566928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527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21408"/>
            <a:ext cx="34747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</a:rPr>
              <a:t>Residual fraud is caught by this fail-safe layer.
Legitimate users experience a brief cooldown at worst.
Cost savings are locked in </a:t>
            </a:r>
            <a:r>
              <a:rPr lang="en-US" sz="1200" b="0" i="0" dirty="0">
                <a:solidFill>
                  <a:srgbClr val="FFFFFF"/>
                </a:solidFill>
              </a:rPr>
              <a:t>so there will be</a:t>
            </a:r>
            <a:r>
              <a:rPr sz="1200" b="0" i="0" dirty="0">
                <a:solidFill>
                  <a:srgbClr val="FFFFFF"/>
                </a:solidFill>
              </a:rPr>
              <a:t> no runaway charges.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5166360"/>
            <a:ext cx="11521440" cy="9601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519379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3DAE2B"/>
                </a:solidFill>
              </a:rPr>
              <a:t>🔐  Combined Defense 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✔  Layer 1 (App Check) blocks ~99 %+ of bot traffic before any cost is incurred.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✔  Layer 2 (Rate Limit) eliminates residual abuse and protects against edge cases.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Business Value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749039" cy="521208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749039" cy="594360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06984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💰  Immediate ROI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1691640"/>
            <a:ext cx="345643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We have successfully shut off the vulnerability that automated scripts were exploiting, saving the company from runaway Twilio invoices.
The fix costs nothing to run and protects us indefinitely.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005840"/>
            <a:ext cx="3749039" cy="521208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79" y="1005840"/>
            <a:ext cx="3749039" cy="594360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1" y="106984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📈  Predictable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1" y="1691640"/>
            <a:ext cx="3456432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As we grow our legitimate user base, our SMS costs will scale directly with real human onboarding </a:t>
            </a:r>
            <a:r>
              <a:rPr lang="en-US" sz="1300" dirty="0">
                <a:solidFill>
                  <a:srgbClr val="FFFFFF"/>
                </a:solidFill>
              </a:rPr>
              <a:t>so there will be no</a:t>
            </a:r>
            <a:r>
              <a:rPr sz="1300" b="0" i="0" dirty="0">
                <a:solidFill>
                  <a:srgbClr val="FFFFFF"/>
                </a:solidFill>
              </a:rPr>
              <a:t> outside bot traffic.
Budgeting becomes reliable and tied to actual growth.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19" y="1005840"/>
            <a:ext cx="3749039" cy="521208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19" y="1005840"/>
            <a:ext cx="3749039" cy="594360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1" y="1069848"/>
            <a:ext cx="3474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✨  Zero User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1691640"/>
            <a:ext cx="345643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FFFFF"/>
                </a:solidFill>
              </a:rPr>
              <a:t>Both security measures happen in milliseconds behind the scenes.
Legitimate users attempting to log in normally will not even notice they are there </a:t>
            </a:r>
            <a:r>
              <a:rPr lang="en-US" sz="1300" b="0" i="0" dirty="0">
                <a:solidFill>
                  <a:srgbClr val="FFFFFF"/>
                </a:solidFill>
              </a:rPr>
              <a:t>which means</a:t>
            </a:r>
            <a:r>
              <a:rPr sz="1300" b="0" i="0" dirty="0">
                <a:solidFill>
                  <a:srgbClr val="FFFFFF"/>
                </a:solidFill>
              </a:rPr>
              <a:t> no extra steps, no delays, no CAPTCHA.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How Our Defense Works –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54864"/>
          </a:xfrm>
          <a:prstGeom prst="rect">
            <a:avLst/>
          </a:prstGeom>
          <a:solidFill>
            <a:srgbClr val="3DA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Every SMS request passes through two automatic checkpoints before we are charged a penny.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331720" cy="1005840"/>
          </a:xfrm>
          <a:prstGeom prst="rect">
            <a:avLst/>
          </a:prstGeom>
          <a:solidFill>
            <a:srgbClr val="0F3D6E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581912"/>
            <a:ext cx="2112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📲  SMS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User taps 'Send Code'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1801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DAE2B"/>
                </a:solidFill>
              </a:rPr>
              <a:t>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508760"/>
            <a:ext cx="2331720" cy="1005840"/>
          </a:xfrm>
          <a:prstGeom prst="rect">
            <a:avLst/>
          </a:prstGeom>
          <a:solidFill>
            <a:srgbClr val="2E5FA3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581912"/>
            <a:ext cx="2112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🛡️  Checkpoint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Is this our real app?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801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DAE2B"/>
                </a:solidFill>
              </a:rPr>
              <a:t>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508760"/>
            <a:ext cx="2331720" cy="1005840"/>
          </a:xfrm>
          <a:prstGeom prst="rect">
            <a:avLst/>
          </a:prstGeom>
          <a:solidFill>
            <a:srgbClr val="2E5FA3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9048" y="1581912"/>
            <a:ext cx="2112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⏱️  Checkpoint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011680"/>
            <a:ext cx="2148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</a:rPr>
              <a:t>Is the request rate normal?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013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DAE2B"/>
                </a:solidFill>
              </a:rPr>
              <a:t>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1508760"/>
            <a:ext cx="2331720" cy="1005840"/>
          </a:xfrm>
          <a:prstGeom prst="rect">
            <a:avLst/>
          </a:prstGeom>
          <a:solidFill>
            <a:srgbClr val="3DAE2B"/>
          </a:solidFill>
          <a:ln w="2540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7" y="1581912"/>
            <a:ext cx="21122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✅  SMS Sent!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011680"/>
            <a:ext cx="2148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FFFFFF"/>
                </a:solidFill>
              </a:rPr>
              <a:t>Twilio charged </a:t>
            </a:r>
            <a:r>
              <a:rPr lang="en-US" sz="1000" b="0" i="0" dirty="0">
                <a:solidFill>
                  <a:srgbClr val="FFFFFF"/>
                </a:solidFill>
              </a:rPr>
              <a:t>since it’s a</a:t>
            </a:r>
          </a:p>
          <a:p>
            <a:pPr algn="ctr"/>
            <a:r>
              <a:rPr sz="1000" b="0" i="0" dirty="0">
                <a:solidFill>
                  <a:srgbClr val="FFFFFF"/>
                </a:solidFill>
              </a:rPr>
              <a:t> legitimate 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4780" y="2560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5FA3"/>
                </a:solidFill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9459" y="25603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5FA3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063240"/>
            <a:ext cx="2743200" cy="1417320"/>
          </a:xfrm>
          <a:prstGeom prst="rect">
            <a:avLst/>
          </a:prstGeom>
          <a:solidFill>
            <a:srgbClr val="0F3D6E"/>
          </a:solidFill>
          <a:ln w="254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61488" y="3127248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5FA3"/>
                </a:solidFill>
              </a:rPr>
              <a:t>❌  Blocked — FREE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502152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</a:rPr>
              <a:t>Bot / script without
a valid app token.
Cost to us: $0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06440" y="3063240"/>
            <a:ext cx="2743200" cy="1417320"/>
          </a:xfrm>
          <a:prstGeom prst="rect">
            <a:avLst/>
          </a:prstGeom>
          <a:solidFill>
            <a:srgbClr val="0F3D6E"/>
          </a:solidFill>
          <a:ln w="25400">
            <a:solidFill>
              <a:srgbClr val="2E5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16168" y="3127248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DAE2B"/>
                </a:solidFill>
              </a:rPr>
              <a:t>⚠️  Throttled — FREE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3502152"/>
            <a:ext cx="25237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CCCCCC"/>
                </a:solidFill>
              </a:rPr>
              <a:t>Too many requests too fast.
System </a:t>
            </a:r>
            <a:r>
              <a:rPr lang="en-US" sz="1100" b="0" i="0" dirty="0">
                <a:solidFill>
                  <a:srgbClr val="CCCCCC"/>
                </a:solidFill>
              </a:rPr>
              <a:t>behaves as usual</a:t>
            </a:r>
            <a:br>
              <a:rPr lang="en-US" sz="1100" b="0" i="0" dirty="0">
                <a:solidFill>
                  <a:srgbClr val="CCCCCC"/>
                </a:solidFill>
              </a:rPr>
            </a:br>
            <a:r>
              <a:rPr lang="en-US" sz="1100" b="0" i="0" dirty="0">
                <a:solidFill>
                  <a:srgbClr val="CCCCCC"/>
                </a:solidFill>
              </a:rPr>
              <a:t>(silent deny request)</a:t>
            </a:r>
            <a:r>
              <a:rPr sz="1100" b="0" i="0" dirty="0">
                <a:solidFill>
                  <a:srgbClr val="CCCCCC"/>
                </a:solidFill>
              </a:rPr>
              <a:t>.
Cost to us: $0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754880"/>
            <a:ext cx="11521440" cy="1417320"/>
          </a:xfrm>
          <a:prstGeom prst="rect">
            <a:avLst/>
          </a:prstGeom>
          <a:solidFill>
            <a:srgbClr val="0F3D6E"/>
          </a:solidFill>
          <a:ln w="19050">
            <a:solidFill>
              <a:srgbClr val="3DA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800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AE2B"/>
                </a:solidFill>
              </a:rPr>
              <a:t>🔑  Key Takeaway for the Business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166360"/>
            <a:ext cx="110642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✔  Only real users on our genuine app can ever reach the 'SMS Sent' step — protecting our budget automatically.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✔  The system is fully invisible to legitimate customers and requires no manual intervention.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FFFFFF"/>
                </a:solidFill>
              </a:rPr>
              <a:t>✔  Both checkpoints run in under 50 milliseconds </a:t>
            </a:r>
            <a:r>
              <a:rPr lang="en-US" sz="1200" dirty="0">
                <a:solidFill>
                  <a:srgbClr val="FFFFFF"/>
                </a:solidFill>
              </a:rPr>
              <a:t>so there will be</a:t>
            </a:r>
            <a:r>
              <a:rPr sz="1200" dirty="0">
                <a:solidFill>
                  <a:srgbClr val="FFFFFF"/>
                </a:solidFill>
              </a:rPr>
              <a:t> no perceptible delay for users.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3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1188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SMS Pumping Defence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862</Words>
  <Application>Microsoft Office PowerPoint</Application>
  <PresentationFormat>Custom</PresentationFormat>
  <Paragraphs>78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Nikola Laban</cp:lastModifiedBy>
  <cp:revision>4</cp:revision>
  <dcterms:created xsi:type="dcterms:W3CDTF">2013-01-27T09:14:16Z</dcterms:created>
  <dcterms:modified xsi:type="dcterms:W3CDTF">2026-03-11T15:40:33Z</dcterms:modified>
  <cp:category/>
</cp:coreProperties>
</file>